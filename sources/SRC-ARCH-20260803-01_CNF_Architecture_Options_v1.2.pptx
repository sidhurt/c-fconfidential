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4" roundtripDataSignature="AMtx7mg2SE3t+lN/5NkMB7ciLBsJxsHZ4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f588452894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" name="Google Shape;21;g3f588452894_0_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" name="Google Shape;22;g3f588452894_0_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588452894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g3f588452894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" name="Google Shape;28;g3f588452894_0_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" name="Google Shape;4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" name="Google Shape;4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5" name="Google Shape;10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968d5b9d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6" name="Google Shape;176;g3f968d5b9d7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7" name="Google Shape;177;g3f968d5b9d7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95a3dd972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f95a3dd972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5" name="Google Shape;185;g3f95a3dd972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f95a3dd972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0" name="Google Shape;190;g3f95a3dd972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1" name="Google Shape;191;g3f95a3dd972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f5e5769fd9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f5e5769fd9_0_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g3f5e5769fd9_0_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548640" y="15087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8FB4E3"/>
                </a:solidFill>
                <a:latin typeface="Calibri"/>
                <a:ea typeface="Calibri"/>
                <a:cs typeface="Calibri"/>
                <a:sym typeface="Calibri"/>
              </a:rPr>
              <a:t>CNF PORTAL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48640" y="1920240"/>
            <a:ext cx="105156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CNF Architecture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DA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DA0"/>
                </a:solidFill>
                <a:latin typeface="Calibri"/>
                <a:ea typeface="Calibri"/>
                <a:cs typeface="Calibri"/>
                <a:sym typeface="Calibri"/>
              </a:rPr>
              <a:t>July 2026  ·  Confidential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g3f588452894_0_19" title="CNFArchitecture (3)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63938" y="152400"/>
            <a:ext cx="10464121" cy="6553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f588452894_0_6"/>
          <p:cNvSpPr/>
          <p:nvPr/>
        </p:nvSpPr>
        <p:spPr>
          <a:xfrm>
            <a:off x="54864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8FB4E3"/>
                </a:solidFill>
                <a:latin typeface="Calibri"/>
                <a:ea typeface="Calibri"/>
                <a:cs typeface="Calibri"/>
                <a:sym typeface="Calibri"/>
              </a:rPr>
              <a:t>CNF PORTAL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g3f588452894_0_6"/>
          <p:cNvSpPr/>
          <p:nvPr/>
        </p:nvSpPr>
        <p:spPr>
          <a:xfrm>
            <a:off x="548640" y="1920240"/>
            <a:ext cx="10515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DSP Data Integration — Architecture Options</a:t>
            </a:r>
            <a:endParaRPr sz="3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588452894_0_6"/>
          <p:cNvSpPr/>
          <p:nvPr/>
        </p:nvSpPr>
        <p:spPr>
          <a:xfrm>
            <a:off x="548640" y="2880360"/>
            <a:ext cx="100584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7D2E3"/>
              </a:buClr>
              <a:buSzPts val="1600"/>
              <a:buFont typeface="Calibri"/>
              <a:buNone/>
            </a:pPr>
            <a:r>
              <a:rPr lang="en-US" sz="1600" b="0" i="0" u="none" strike="noStrike" cap="none">
                <a:solidFill>
                  <a:srgbClr val="C7D2E3"/>
                </a:solidFill>
                <a:latin typeface="Calibri"/>
                <a:ea typeface="Calibri"/>
                <a:cs typeface="Calibri"/>
                <a:sym typeface="Calibri"/>
              </a:rPr>
              <a:t>Comparative Analysis of Two Integration Approaches</a:t>
            </a: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g3f588452894_0_6"/>
          <p:cNvSpPr/>
          <p:nvPr/>
        </p:nvSpPr>
        <p:spPr>
          <a:xfrm>
            <a:off x="548640" y="3246120"/>
            <a:ext cx="10058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A0BE"/>
              </a:buClr>
              <a:buSzPts val="1200"/>
              <a:buFont typeface="Calibri"/>
              <a:buNone/>
            </a:pPr>
            <a:r>
              <a:rPr lang="en-US" sz="1200" b="0" i="0" u="none" strike="noStrike" cap="none">
                <a:solidFill>
                  <a:srgbClr val="8FA0BE"/>
                </a:solidFill>
                <a:latin typeface="Calibri"/>
                <a:ea typeface="Calibri"/>
                <a:cs typeface="Calibri"/>
                <a:sym typeface="Calibri"/>
              </a:rPr>
              <a:t>Shree Cement Limited  ·  Technology Architecture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588452894_0_6"/>
          <p:cNvSpPr/>
          <p:nvPr/>
        </p:nvSpPr>
        <p:spPr>
          <a:xfrm>
            <a:off x="548640" y="4069080"/>
            <a:ext cx="5257800" cy="1097400"/>
          </a:xfrm>
          <a:prstGeom prst="roundRect">
            <a:avLst>
              <a:gd name="adj" fmla="val 5000"/>
            </a:avLst>
          </a:prstGeom>
          <a:solidFill>
            <a:srgbClr val="16294D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g3f588452894_0_6"/>
          <p:cNvSpPr/>
          <p:nvPr/>
        </p:nvSpPr>
        <p:spPr>
          <a:xfrm>
            <a:off x="822960" y="4069080"/>
            <a:ext cx="47091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8FB4E3"/>
                </a:solidFill>
                <a:latin typeface="Calibri"/>
                <a:ea typeface="Calibri"/>
                <a:cs typeface="Calibri"/>
                <a:sym typeface="Calibri"/>
              </a:rPr>
              <a:t>OPTION A</a:t>
            </a:r>
            <a:br>
              <a:rPr lang="en-US" sz="1100" b="1" i="0" u="none" strike="noStrike" cap="none">
                <a:solidFill>
                  <a:srgbClr val="8FB4E3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Real-Time DSP Query with OCC Caching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588452894_0_6"/>
          <p:cNvSpPr/>
          <p:nvPr/>
        </p:nvSpPr>
        <p:spPr>
          <a:xfrm>
            <a:off x="6355080" y="4069080"/>
            <a:ext cx="5257800" cy="1097400"/>
          </a:xfrm>
          <a:prstGeom prst="roundRect">
            <a:avLst>
              <a:gd name="adj" fmla="val 5000"/>
            </a:avLst>
          </a:prstGeom>
          <a:solidFill>
            <a:srgbClr val="0F2E30"/>
          </a:solidFill>
          <a:ln w="12700" cap="flat" cmpd="sng">
            <a:solidFill>
              <a:srgbClr val="006D7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3f588452894_0_6"/>
          <p:cNvSpPr/>
          <p:nvPr/>
        </p:nvSpPr>
        <p:spPr>
          <a:xfrm>
            <a:off x="6629400" y="4069080"/>
            <a:ext cx="4709100" cy="109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7FD4D9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7FD4D9"/>
                </a:solidFill>
                <a:latin typeface="Calibri"/>
                <a:ea typeface="Calibri"/>
                <a:cs typeface="Calibri"/>
                <a:sym typeface="Calibri"/>
              </a:rPr>
              <a:t>OPTION B</a:t>
            </a:r>
            <a:br>
              <a:rPr lang="en-US" sz="1100" b="1" i="0" u="none" strike="noStrike" cap="none">
                <a:solidFill>
                  <a:srgbClr val="7FD4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Hybris-Managed Data Store with Scheduled DSP Sync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g3f588452894_0_6"/>
          <p:cNvSpPr/>
          <p:nvPr/>
        </p:nvSpPr>
        <p:spPr>
          <a:xfrm>
            <a:off x="548640" y="64008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DA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DA0"/>
                </a:solidFill>
                <a:latin typeface="Calibri"/>
                <a:ea typeface="Calibri"/>
                <a:cs typeface="Calibri"/>
                <a:sym typeface="Calibri"/>
              </a:rPr>
              <a:t>July 2026  ·  Confidential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"/>
          <p:cNvSpPr/>
          <p:nvPr/>
        </p:nvSpPr>
        <p:spPr>
          <a:xfrm>
            <a:off x="365760" y="2926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Option A — Real-Time DSP Query with OCC Caching (within session)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365760" y="731520"/>
            <a:ext cx="11430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T2 queries DSP live on demand. OCC cache absorbs repeated requests.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365760" y="1234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11480" y="123444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CNF Agent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(Browser)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2754630" y="1234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D6E4F7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2800350" y="123444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 T2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OCC API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143500" y="1234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1E5FA8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5189220" y="123444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OCC Cache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(Hybris Region)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7532370" y="1234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EDE9FE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7578090" y="123444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SAP SCPI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Middleware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9921240" y="1234440"/>
            <a:ext cx="1874520" cy="566928"/>
          </a:xfrm>
          <a:prstGeom prst="roundRect">
            <a:avLst>
              <a:gd name="adj" fmla="val 9677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966960" y="1234440"/>
            <a:ext cx="178308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SAP Datasphere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OData API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3"/>
          <p:cNvCxnSpPr/>
          <p:nvPr/>
        </p:nvCxnSpPr>
        <p:spPr>
          <a:xfrm>
            <a:off x="2240280" y="1517904"/>
            <a:ext cx="51435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7" name="Google Shape;57;p3"/>
          <p:cNvCxnSpPr/>
          <p:nvPr/>
        </p:nvCxnSpPr>
        <p:spPr>
          <a:xfrm>
            <a:off x="4629150" y="1517904"/>
            <a:ext cx="51435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8" name="Google Shape;58;p3"/>
          <p:cNvCxnSpPr/>
          <p:nvPr/>
        </p:nvCxnSpPr>
        <p:spPr>
          <a:xfrm>
            <a:off x="7018020" y="1517904"/>
            <a:ext cx="51435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9" name="Google Shape;59;p3"/>
          <p:cNvCxnSpPr/>
          <p:nvPr/>
        </p:nvCxnSpPr>
        <p:spPr>
          <a:xfrm>
            <a:off x="9406890" y="1517904"/>
            <a:ext cx="51435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0" name="Google Shape;60;p3"/>
          <p:cNvSpPr/>
          <p:nvPr/>
        </p:nvSpPr>
        <p:spPr>
          <a:xfrm>
            <a:off x="4823460" y="1965960"/>
            <a:ext cx="2514600" cy="566928"/>
          </a:xfrm>
          <a:prstGeom prst="roundRect">
            <a:avLst>
              <a:gd name="adj" fmla="val 8065"/>
            </a:avLst>
          </a:prstGeom>
          <a:solidFill>
            <a:srgbClr val="F8FAFC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823460" y="199339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HIT 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serve instantly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823460" y="2240280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→ MISS  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850"/>
              <a:buFont typeface="Calibri"/>
              <a:buNone/>
            </a:pPr>
            <a:r>
              <a:rPr lang="en-US" sz="8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call SCPI live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365760" y="2624328"/>
            <a:ext cx="11430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alibri"/>
              <a:buNone/>
            </a:pPr>
            <a:r>
              <a:rPr lang="en-US" sz="100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TTL is matched to each object's DSP refresh cycle — no persistent copy of DSP data is kept in T2.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365760" y="3004820"/>
            <a:ext cx="54900" cy="25590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02920" y="300482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MASTER DATA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3388868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Depot → Storage Location Mapping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3608324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 stored in T2.cached 23 hrs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" name="Google Shape;68;p3"/>
          <p:cNvCxnSpPr/>
          <p:nvPr/>
        </p:nvCxnSpPr>
        <p:spPr>
          <a:xfrm>
            <a:off x="365760" y="3827780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Google Shape;69;p3"/>
          <p:cNvSpPr/>
          <p:nvPr/>
        </p:nvSpPr>
        <p:spPr>
          <a:xfrm>
            <a:off x="365760" y="3864356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Vehicle Master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65760" y="4083812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 stored in T2. cached 23 hrs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365760" y="4303268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2" name="Google Shape;72;p3"/>
          <p:cNvSpPr/>
          <p:nvPr/>
        </p:nvSpPr>
        <p:spPr>
          <a:xfrm>
            <a:off x="365760" y="4339844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Transporter Master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65760" y="45593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·stored in T2. cached 23 hrs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6099104" y="3004820"/>
            <a:ext cx="54900" cy="25590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6236264" y="3004820"/>
            <a:ext cx="34746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REAL-TIME OPERATIONAL (SLT)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6099104" y="3388868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Pending MRN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099104" y="3608324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SLT CDC · OCC cache 4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8" name="Google Shape;78;p3"/>
          <p:cNvCxnSpPr/>
          <p:nvPr/>
        </p:nvCxnSpPr>
        <p:spPr>
          <a:xfrm>
            <a:off x="6099104" y="3827780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9" name="Google Shape;79;p3"/>
          <p:cNvSpPr/>
          <p:nvPr/>
        </p:nvSpPr>
        <p:spPr>
          <a:xfrm>
            <a:off x="6099104" y="3864356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Pending Orders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6099104" y="4083812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SLT CDC · OCC cache 4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6099104" y="4303268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2" name="Google Shape;82;p3"/>
          <p:cNvSpPr/>
          <p:nvPr/>
        </p:nvSpPr>
        <p:spPr>
          <a:xfrm>
            <a:off x="6099104" y="4339844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099104" y="455930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SLT CDC · OCC cache 4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7788514" y="3388875"/>
            <a:ext cx="1783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 List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788515" y="3608325"/>
            <a:ext cx="16827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SLT CDC  · OCC cache 4  min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3"/>
          <p:cNvCxnSpPr/>
          <p:nvPr/>
        </p:nvCxnSpPr>
        <p:spPr>
          <a:xfrm>
            <a:off x="402953" y="5254918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7" name="Google Shape;87;p3"/>
          <p:cNvSpPr/>
          <p:nvPr/>
        </p:nvSpPr>
        <p:spPr>
          <a:xfrm>
            <a:off x="402953" y="4874594"/>
            <a:ext cx="36120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Stock Aging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65488" y="5135740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refresh once in a day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365753" y="5250956"/>
            <a:ext cx="3612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0" name="Google Shape;90;p3"/>
          <p:cNvSpPr/>
          <p:nvPr/>
        </p:nvSpPr>
        <p:spPr>
          <a:xfrm>
            <a:off x="6129584" y="4824225"/>
            <a:ext cx="16827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 Billing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6129589" y="5043675"/>
            <a:ext cx="36120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SLT CDC  · OCC cache 4 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3"/>
          <p:cNvCxnSpPr/>
          <p:nvPr/>
        </p:nvCxnSpPr>
        <p:spPr>
          <a:xfrm>
            <a:off x="365760" y="5715000"/>
            <a:ext cx="114300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3" name="Google Shape;93;p3"/>
          <p:cNvSpPr/>
          <p:nvPr/>
        </p:nvSpPr>
        <p:spPr>
          <a:xfrm>
            <a:off x="365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Simpler to build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2270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Always current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4175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Low T2 storage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6080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DSP dependency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985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SCPI bottleneck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9890760" y="5806440"/>
            <a:ext cx="1905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1050"/>
              <a:buFont typeface="Calibri"/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10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Cache tuning needed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/>
          <p:nvPr/>
        </p:nvSpPr>
        <p:spPr>
          <a:xfrm>
            <a:off x="365760" y="6510528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Option A  ·  Shree Cement CNF Portal  ·  Architecture Decision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10515600" y="651052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6142840" y="5334125"/>
            <a:ext cx="1783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eInvoice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/>
          <p:nvPr/>
        </p:nvSpPr>
        <p:spPr>
          <a:xfrm>
            <a:off x="365760" y="685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2400"/>
              <a:buFont typeface="Calibri"/>
              <a:buNone/>
            </a:pPr>
            <a:r>
              <a:rPr lang="en-US" sz="24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Option B — Hybris-Managed Data Store with Scheduled DSP Sync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445770"/>
            <a:ext cx="11430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1300"/>
              <a:buFont typeface="Calibri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T2 maintains its own persistent data store. DSP sync runs in the background. Agents always read from T2.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824432"/>
            <a:ext cx="73152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D75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BACKGROUND SYNC PATH   ·   no agent involvement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365760" y="16543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411480" y="16733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T2 Data Store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055140" y="16543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CCEFF1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100860" y="16733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SCPI / Direct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8275320" y="16543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006D75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8321040" y="16733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DSP</a:t>
            </a: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JDBC connection</a:t>
            </a: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4"/>
          <p:cNvCxnSpPr>
            <a:endCxn id="115" idx="1"/>
          </p:cNvCxnSpPr>
          <p:nvPr/>
        </p:nvCxnSpPr>
        <p:spPr>
          <a:xfrm>
            <a:off x="7021140" y="1938552"/>
            <a:ext cx="129990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17" name="Google Shape;117;p4"/>
          <p:cNvSpPr/>
          <p:nvPr/>
        </p:nvSpPr>
        <p:spPr>
          <a:xfrm>
            <a:off x="10325100" y="1654302"/>
            <a:ext cx="1737300" cy="53040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10351770" y="1673352"/>
            <a:ext cx="16458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SAP S/4HANA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(via SCPI)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9738360" y="2240280"/>
            <a:ext cx="2377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750"/>
              <a:buFont typeface="Calibri"/>
              <a:buNone/>
            </a:pPr>
            <a:r>
              <a:rPr lang="en-US" sz="750" b="0" i="1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pushes delivery &amp; invoice updates back to Hybris</a:t>
            </a:r>
            <a:endParaRPr sz="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2478024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5FA8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AGENT RUNTIME PATH   ·   zero DSP dependency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65760" y="2752344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411480" y="2752344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CNF Agent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(Browser)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3063240" y="2752344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D6E4F7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108960" y="2752344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 T2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OCC API Layer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5760720" y="2752344"/>
            <a:ext cx="2148840" cy="530352"/>
          </a:xfrm>
          <a:prstGeom prst="roundRect">
            <a:avLst>
              <a:gd name="adj" fmla="val 10345"/>
            </a:avLst>
          </a:prstGeom>
          <a:solidFill>
            <a:srgbClr val="006D75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5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5806440" y="2752344"/>
            <a:ext cx="205740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Hybris T2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Store (same as above)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7" name="Google Shape;127;p4"/>
          <p:cNvCxnSpPr/>
          <p:nvPr/>
        </p:nvCxnSpPr>
        <p:spPr>
          <a:xfrm>
            <a:off x="2514600" y="301752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4"/>
          <p:cNvCxnSpPr/>
          <p:nvPr/>
        </p:nvCxnSpPr>
        <p:spPr>
          <a:xfrm>
            <a:off x="5212080" y="3017520"/>
            <a:ext cx="54864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29" name="Google Shape;129;p4"/>
          <p:cNvSpPr/>
          <p:nvPr/>
        </p:nvSpPr>
        <p:spPr>
          <a:xfrm>
            <a:off x="8138152" y="2752350"/>
            <a:ext cx="37719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Daily sync  </a:t>
            </a: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master data     </a:t>
            </a:r>
            <a:r>
              <a:rPr lang="en-US" sz="900" b="1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10–15 min sync  </a:t>
            </a: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operational data     </a:t>
            </a:r>
            <a:endParaRPr sz="9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4B5563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Created on write  </a:t>
            </a: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· transactional data, synced back via SCPI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5760" y="3557016"/>
            <a:ext cx="54864" cy="21945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502920" y="3557016"/>
            <a:ext cx="347472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MASTER DATA · DAILY BATCH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365760" y="3849624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Depot → Storage Location Mapping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365760" y="4023360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daily batch → T2 persistent table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365760" y="4233672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Vehicle Master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365760" y="4407408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daily batch → T2 persistent table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365760" y="4617720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Transporter Master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65760" y="4791456"/>
            <a:ext cx="36118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DSP daily batch → T2 persistent table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3102187" y="3557016"/>
            <a:ext cx="54900" cy="219600"/>
          </a:xfrm>
          <a:prstGeom prst="rect">
            <a:avLst/>
          </a:prstGeom>
          <a:solidFill>
            <a:srgbClr val="006D7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3239343" y="3557025"/>
            <a:ext cx="2479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OPERATIONAL · 10–15 MIN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102179" y="3849625"/>
            <a:ext cx="2286000" cy="1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Pending MRN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3102187" y="4023360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SCPI syncs from DSP to T2. Data stored in T2.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3102187" y="4233672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Pending Orders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3102187" y="4407408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SCPI syncs from DSP to T2. Data stored in T2.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3102187" y="4617720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 List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3102187" y="4791456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SCPI syncs from DSP to T2. Data stored in T2.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3102187" y="5001768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Stock Aging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3102187" y="5175504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SCPI syncs from DSP to T2. Data stored in T2.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3102187" y="5385816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eInvoice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3131820" y="5559552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SCPI syncs from DSP to T2. Data stored in T2.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563442" y="3557025"/>
            <a:ext cx="50100" cy="21960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5625094" y="3557025"/>
            <a:ext cx="31761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TRANSACTIONAL · CREATED IN T2  only after persisted in SAP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563442" y="3849630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4"/>
          <p:cNvSpPr/>
          <p:nvPr/>
        </p:nvSpPr>
        <p:spPr>
          <a:xfrm>
            <a:off x="5563442" y="4023363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Created on DI confirm ·stored in T2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5563442" y="4233673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563442" y="4407407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Created on invoice post · stored persistently in T2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/>
          <p:nvPr/>
        </p:nvSpPr>
        <p:spPr>
          <a:xfrm>
            <a:off x="5563442" y="4617716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 PDF Downloads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563442" y="4791450"/>
            <a:ext cx="33018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First fetch via API · then persisted in T2 media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365760" y="6419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9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Portal resilience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2651760" y="6419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9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Fast agent screens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4937760" y="6419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6B3C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lang="en-US" sz="9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Complex queries possible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7223760" y="6419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lang="en-US" sz="9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Higher dev effort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9509760" y="6419088"/>
            <a:ext cx="22860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1B1B"/>
              </a:buClr>
              <a:buSzPts val="950"/>
              <a:buFont typeface="Calibri"/>
              <a:buNone/>
            </a:pPr>
            <a:r>
              <a:rPr lang="en-US" sz="9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</a:t>
            </a:r>
            <a:r>
              <a:rPr lang="en-US" sz="95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Data duplication</a:t>
            </a:r>
            <a:endParaRPr sz="9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4"/>
          <p:cNvCxnSpPr>
            <a:stCxn id="118" idx="0"/>
            <a:endCxn id="113" idx="0"/>
          </p:cNvCxnSpPr>
          <p:nvPr/>
        </p:nvCxnSpPr>
        <p:spPr>
          <a:xfrm rot="5400000">
            <a:off x="8606070" y="-894648"/>
            <a:ext cx="600" cy="5136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164" name="Google Shape;164;p4"/>
          <p:cNvSpPr/>
          <p:nvPr/>
        </p:nvSpPr>
        <p:spPr>
          <a:xfrm>
            <a:off x="3977648" y="1177722"/>
            <a:ext cx="2377500" cy="1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Deliveries/Invoice Updates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7132248" y="1171072"/>
            <a:ext cx="2377500" cy="15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Deliveries/Invoice Updates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6" name="Google Shape;166;p4"/>
          <p:cNvCxnSpPr>
            <a:stCxn id="113" idx="1"/>
            <a:endCxn id="111" idx="3"/>
          </p:cNvCxnSpPr>
          <p:nvPr/>
        </p:nvCxnSpPr>
        <p:spPr>
          <a:xfrm rot="10800000">
            <a:off x="2285960" y="1938552"/>
            <a:ext cx="28149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67" name="Google Shape;167;p4"/>
          <p:cNvSpPr/>
          <p:nvPr/>
        </p:nvSpPr>
        <p:spPr>
          <a:xfrm>
            <a:off x="8816758" y="3550675"/>
            <a:ext cx="50100" cy="219600"/>
          </a:xfrm>
          <a:prstGeom prst="rect">
            <a:avLst/>
          </a:prstGeom>
          <a:solidFill>
            <a:srgbClr val="1E5FA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8878400" y="3493525"/>
            <a:ext cx="3031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EVENT DRIVEN - Created in SAP , pushed from SAP to T2</a:t>
            </a:r>
            <a:endParaRPr sz="900" b="1" i="0" u="none" strike="noStrike" cap="none">
              <a:solidFill>
                <a:srgbClr val="0D1F3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Same as T1</a:t>
            </a:r>
            <a:endParaRPr sz="900" b="1" i="0" u="none" strike="noStrike" cap="none">
              <a:solidFill>
                <a:srgbClr val="0D1F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8848508" y="4079300"/>
            <a:ext cx="247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8848508" y="4253033"/>
            <a:ext cx="247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 in SAP pushed to T2 via SCPI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8848508" y="4463342"/>
            <a:ext cx="247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4"/>
          <p:cNvSpPr/>
          <p:nvPr/>
        </p:nvSpPr>
        <p:spPr>
          <a:xfrm>
            <a:off x="8848508" y="4637076"/>
            <a:ext cx="24792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Create in SAP pushed to T2 via SCPI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endParaRPr sz="800" b="0" i="0" u="none" strike="noStrike" cap="non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4"/>
          <p:cNvCxnSpPr/>
          <p:nvPr/>
        </p:nvCxnSpPr>
        <p:spPr>
          <a:xfrm rot="5400000">
            <a:off x="3310170" y="-869248"/>
            <a:ext cx="600" cy="5136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F3C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f968d5b9d7_0_4"/>
          <p:cNvSpPr/>
          <p:nvPr/>
        </p:nvSpPr>
        <p:spPr>
          <a:xfrm>
            <a:off x="548640" y="1508760"/>
            <a:ext cx="91440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FB4E3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8FB4E3"/>
                </a:solidFill>
                <a:latin typeface="Calibri"/>
                <a:ea typeface="Calibri"/>
                <a:cs typeface="Calibri"/>
                <a:sym typeface="Calibri"/>
              </a:rPr>
              <a:t>CNF PORTAL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g3f968d5b9d7_0_4"/>
          <p:cNvSpPr/>
          <p:nvPr/>
        </p:nvSpPr>
        <p:spPr>
          <a:xfrm>
            <a:off x="548650" y="1920249"/>
            <a:ext cx="10515600" cy="156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en-US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 C - Direct T1 (CRM) Query with Scheduled DSP Sync (Hybrid)</a:t>
            </a: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endParaRPr sz="3400" b="1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g3f968d5b9d7_0_4"/>
          <p:cNvSpPr/>
          <p:nvPr/>
        </p:nvSpPr>
        <p:spPr>
          <a:xfrm>
            <a:off x="548640" y="6400800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DA0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DA0"/>
                </a:solidFill>
                <a:latin typeface="Calibri"/>
                <a:ea typeface="Calibri"/>
                <a:cs typeface="Calibri"/>
                <a:sym typeface="Calibri"/>
              </a:rPr>
              <a:t>July 2026  ·  Confidential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g3f95a3dd972_0_12" title="CNFArchitecture-T1 (2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0906000" cy="6553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95a3dd972_0_4"/>
          <p:cNvSpPr/>
          <p:nvPr/>
        </p:nvSpPr>
        <p:spPr>
          <a:xfrm>
            <a:off x="365760" y="237744"/>
            <a:ext cx="1145743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Option C — Direct T1 (CRM) Query with Scheduled DSP Sync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3f95a3dd972_0_4"/>
          <p:cNvSpPr/>
          <p:nvPr/>
        </p:nvSpPr>
        <p:spPr>
          <a:xfrm>
            <a:off x="365760" y="640080"/>
            <a:ext cx="114574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lang="en-US" sz="130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Orders, Deliveries &amp; Invoices are served live from T1 (CRM) via OCC. MRN, STO List &amp; Stock Aging sync from DSP to T2 on a fixed schedule.</a:t>
            </a:r>
            <a:endParaRPr sz="1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g3f95a3dd972_0_4"/>
          <p:cNvSpPr/>
          <p:nvPr/>
        </p:nvSpPr>
        <p:spPr>
          <a:xfrm>
            <a:off x="365750" y="1024125"/>
            <a:ext cx="8229600" cy="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DIRECT T1 (CRM) QUERY PATH   ·   zero DSP / T2 dependency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g3f95a3dd972_0_4"/>
          <p:cNvSpPr/>
          <p:nvPr/>
        </p:nvSpPr>
        <p:spPr>
          <a:xfrm>
            <a:off x="365750" y="1223661"/>
            <a:ext cx="2103000" cy="5319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g3f95a3dd972_0_4"/>
          <p:cNvSpPr/>
          <p:nvPr/>
        </p:nvSpPr>
        <p:spPr>
          <a:xfrm>
            <a:off x="457190" y="1223661"/>
            <a:ext cx="19203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CNF Agent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(Browser)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" name="Google Shape;198;g3f95a3dd972_0_4"/>
          <p:cNvCxnSpPr/>
          <p:nvPr/>
        </p:nvCxnSpPr>
        <p:spPr>
          <a:xfrm>
            <a:off x="2487158" y="1489709"/>
            <a:ext cx="768000" cy="0"/>
          </a:xfrm>
          <a:prstGeom prst="straightConnector1">
            <a:avLst/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99" name="Google Shape;199;g3f95a3dd972_0_4"/>
          <p:cNvSpPr/>
          <p:nvPr/>
        </p:nvSpPr>
        <p:spPr>
          <a:xfrm>
            <a:off x="3291830" y="1223661"/>
            <a:ext cx="2743200" cy="531900"/>
          </a:xfrm>
          <a:prstGeom prst="roundRect">
            <a:avLst>
              <a:gd name="adj" fmla="val 10000"/>
            </a:avLst>
          </a:prstGeom>
          <a:solidFill>
            <a:srgbClr val="D6E4F7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f95a3dd972_0_4"/>
          <p:cNvSpPr/>
          <p:nvPr/>
        </p:nvSpPr>
        <p:spPr>
          <a:xfrm>
            <a:off x="3383270" y="1223661"/>
            <a:ext cx="25602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 T1 (CRM)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OCC API Layer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1" name="Google Shape;201;g3f95a3dd972_0_4"/>
          <p:cNvCxnSpPr/>
          <p:nvPr/>
        </p:nvCxnSpPr>
        <p:spPr>
          <a:xfrm>
            <a:off x="6053318" y="1489709"/>
            <a:ext cx="676800" cy="0"/>
          </a:xfrm>
          <a:prstGeom prst="straightConnector1">
            <a:avLst/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2" name="Google Shape;202;g3f95a3dd972_0_4"/>
          <p:cNvSpPr/>
          <p:nvPr/>
        </p:nvSpPr>
        <p:spPr>
          <a:xfrm>
            <a:off x="6748425" y="1289976"/>
            <a:ext cx="50565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b="0" i="1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Live OCC call for Orders, Deliveries &amp; Invoices — served directly from T1, no T2 or DSP round-trip.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g3f95a3dd972_0_4"/>
          <p:cNvSpPr/>
          <p:nvPr/>
        </p:nvSpPr>
        <p:spPr>
          <a:xfrm>
            <a:off x="365760" y="2801112"/>
            <a:ext cx="8229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DSP SYNC PATH   ·   scheduled, no agent involvement,Fetch</a:t>
            </a:r>
            <a:r>
              <a:rPr lang="en-US" sz="1050" b="1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0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stock Aging </a:t>
            </a:r>
            <a:r>
              <a:rPr lang="en-US" sz="1050" b="1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, Depot-SL, Vehicle Master and Transporter master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g3f95a3dd972_0_4"/>
          <p:cNvSpPr/>
          <p:nvPr/>
        </p:nvSpPr>
        <p:spPr>
          <a:xfrm>
            <a:off x="365760" y="3985260"/>
            <a:ext cx="3612000" cy="141720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g3f95a3dd972_0_4"/>
          <p:cNvSpPr/>
          <p:nvPr/>
        </p:nvSpPr>
        <p:spPr>
          <a:xfrm>
            <a:off x="530352" y="3975100"/>
            <a:ext cx="3282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MASTER DATA · DAILY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g3f95a3dd972_0_4"/>
          <p:cNvSpPr/>
          <p:nvPr/>
        </p:nvSpPr>
        <p:spPr>
          <a:xfrm>
            <a:off x="530352" y="430428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Depot → Storage Location Mapping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 stored in T2 (daily)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7" name="Google Shape;207;g3f95a3dd972_0_4"/>
          <p:cNvCxnSpPr/>
          <p:nvPr/>
        </p:nvCxnSpPr>
        <p:spPr>
          <a:xfrm>
            <a:off x="530352" y="458774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8" name="Google Shape;208;g3f95a3dd972_0_4"/>
          <p:cNvSpPr/>
          <p:nvPr/>
        </p:nvSpPr>
        <p:spPr>
          <a:xfrm>
            <a:off x="530352" y="462432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Vehicle Master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 stored in T2 </a:t>
            </a:r>
            <a:r>
              <a:rPr lang="en-US" sz="87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(daily)</a:t>
            </a:r>
            <a:endParaRPr sz="105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endParaRPr sz="87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9" name="Google Shape;209;g3f95a3dd972_0_4"/>
          <p:cNvCxnSpPr/>
          <p:nvPr/>
        </p:nvCxnSpPr>
        <p:spPr>
          <a:xfrm>
            <a:off x="530352" y="490778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0" name="Google Shape;210;g3f95a3dd972_0_4"/>
          <p:cNvSpPr/>
          <p:nvPr/>
        </p:nvSpPr>
        <p:spPr>
          <a:xfrm>
            <a:off x="530352" y="494436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Transporter Master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Synced from DSP · stored in T2 </a:t>
            </a:r>
            <a:r>
              <a:rPr lang="en-US" sz="87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(daily)</a:t>
            </a:r>
            <a:endParaRPr sz="105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endParaRPr sz="87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g3f95a3dd972_0_4"/>
          <p:cNvSpPr/>
          <p:nvPr/>
        </p:nvSpPr>
        <p:spPr>
          <a:xfrm>
            <a:off x="4206250" y="3985250"/>
            <a:ext cx="2998800" cy="141720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g3f95a3dd972_0_4"/>
          <p:cNvSpPr/>
          <p:nvPr/>
        </p:nvSpPr>
        <p:spPr>
          <a:xfrm>
            <a:off x="4370832" y="3975100"/>
            <a:ext cx="32826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OPERATIONAL · SCHEDULED/Realtime DSP SYNC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g3f95a3dd972_0_4"/>
          <p:cNvSpPr/>
          <p:nvPr/>
        </p:nvSpPr>
        <p:spPr>
          <a:xfrm>
            <a:off x="4370832" y="430428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Pending MRN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 min sync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4" name="Google Shape;214;g3f95a3dd972_0_4"/>
          <p:cNvCxnSpPr/>
          <p:nvPr/>
        </p:nvCxnSpPr>
        <p:spPr>
          <a:xfrm>
            <a:off x="4370832" y="458774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g3f95a3dd972_0_4"/>
          <p:cNvSpPr/>
          <p:nvPr/>
        </p:nvSpPr>
        <p:spPr>
          <a:xfrm>
            <a:off x="4370832" y="462432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 dirty="0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 List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dirty="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 min sync</a:t>
            </a:r>
            <a:endParaRPr sz="10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6" name="Google Shape;216;g3f95a3dd972_0_4"/>
          <p:cNvCxnSpPr/>
          <p:nvPr/>
        </p:nvCxnSpPr>
        <p:spPr>
          <a:xfrm>
            <a:off x="4370832" y="490778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7" name="Google Shape;217;g3f95a3dd972_0_4"/>
          <p:cNvSpPr/>
          <p:nvPr/>
        </p:nvSpPr>
        <p:spPr>
          <a:xfrm>
            <a:off x="4370832" y="494436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Stock Aging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Dialy refresh from DSP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g3f95a3dd972_0_4"/>
          <p:cNvSpPr/>
          <p:nvPr/>
        </p:nvSpPr>
        <p:spPr>
          <a:xfrm>
            <a:off x="7576825" y="3985250"/>
            <a:ext cx="2716200" cy="1756500"/>
          </a:xfrm>
          <a:prstGeom prst="roundRect">
            <a:avLst>
              <a:gd name="adj" fmla="val 3871"/>
            </a:avLst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g3f95a3dd972_0_4"/>
          <p:cNvSpPr/>
          <p:nvPr/>
        </p:nvSpPr>
        <p:spPr>
          <a:xfrm>
            <a:off x="7741403" y="3975100"/>
            <a:ext cx="2560200" cy="2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lang="en-US" sz="950" b="1" i="0" u="none" strike="noStrike" cap="none">
                <a:solidFill>
                  <a:srgbClr val="1E5FA8"/>
                </a:solidFill>
                <a:latin typeface="Calibri"/>
                <a:ea typeface="Calibri"/>
                <a:cs typeface="Calibri"/>
                <a:sym typeface="Calibri"/>
              </a:rPr>
              <a:t>TRANSACTIONAL · REAL-TIME FROM T1</a:t>
            </a:r>
            <a:endParaRPr sz="9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g3f95a3dd972_0_4"/>
          <p:cNvSpPr/>
          <p:nvPr/>
        </p:nvSpPr>
        <p:spPr>
          <a:xfrm>
            <a:off x="7741412" y="430428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Orders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Live OCC query to T1 (CRM)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1" name="Google Shape;221;g3f95a3dd972_0_4"/>
          <p:cNvCxnSpPr/>
          <p:nvPr/>
        </p:nvCxnSpPr>
        <p:spPr>
          <a:xfrm>
            <a:off x="7741412" y="458774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g3f95a3dd972_0_4"/>
          <p:cNvSpPr/>
          <p:nvPr/>
        </p:nvSpPr>
        <p:spPr>
          <a:xfrm>
            <a:off x="7741412" y="462432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Deliveries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Live OCC query to T1 (CRM)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23" name="Google Shape;223;g3f95a3dd972_0_4"/>
          <p:cNvCxnSpPr/>
          <p:nvPr/>
        </p:nvCxnSpPr>
        <p:spPr>
          <a:xfrm>
            <a:off x="7741412" y="4907788"/>
            <a:ext cx="3282600" cy="0"/>
          </a:xfrm>
          <a:prstGeom prst="straightConnector1">
            <a:avLst/>
          </a:prstGeom>
          <a:noFill/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4" name="Google Shape;224;g3f95a3dd972_0_4"/>
          <p:cNvSpPr/>
          <p:nvPr/>
        </p:nvSpPr>
        <p:spPr>
          <a:xfrm>
            <a:off x="7741412" y="4944364"/>
            <a:ext cx="3282600" cy="2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Invoices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lang="en-US" sz="87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Live OCC query to T1 (CRM)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g3f95a3dd972_0_4"/>
          <p:cNvSpPr/>
          <p:nvPr/>
        </p:nvSpPr>
        <p:spPr>
          <a:xfrm>
            <a:off x="365760" y="5504180"/>
            <a:ext cx="5577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Orders, Deliveries &amp; Invoices always current — no DSP lag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g3f95a3dd972_0_4"/>
          <p:cNvSpPr/>
          <p:nvPr/>
        </p:nvSpPr>
        <p:spPr>
          <a:xfrm>
            <a:off x="365760" y="5760212"/>
            <a:ext cx="5577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Fewer entities to sync via DSP — just Stock Aging, </a:t>
            </a:r>
            <a:r>
              <a:rPr lang="en-US" sz="1050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vehicle</a:t>
            </a:r>
            <a:r>
              <a:rPr lang="en-US" sz="10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 master.transporter master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g3f95a3dd972_0_4"/>
          <p:cNvSpPr/>
          <p:nvPr/>
        </p:nvSpPr>
        <p:spPr>
          <a:xfrm>
            <a:off x="365760" y="6016244"/>
            <a:ext cx="55779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1A6B3C"/>
                </a:solidFill>
                <a:latin typeface="Calibri"/>
                <a:ea typeface="Calibri"/>
                <a:cs typeface="Calibri"/>
                <a:sym typeface="Calibri"/>
              </a:rPr>
              <a:t>✓  </a:t>
            </a:r>
            <a:r>
              <a:rPr lang="en-US" sz="10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Master data pattern stays consistent with Option A / B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g3f95a3dd972_0_4"/>
          <p:cNvSpPr/>
          <p:nvPr/>
        </p:nvSpPr>
        <p:spPr>
          <a:xfrm>
            <a:off x="6126480" y="5760212"/>
            <a:ext cx="5669400" cy="23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991B1B"/>
                </a:solidFill>
                <a:latin typeface="Calibri"/>
                <a:ea typeface="Calibri"/>
                <a:cs typeface="Calibri"/>
                <a:sym typeface="Calibri"/>
              </a:rPr>
              <a:t>✗  </a:t>
            </a:r>
            <a:r>
              <a:rPr lang="en-US" sz="1050" b="0" i="0" u="none" strike="noStrike" cap="none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Two integration patterns to build and maintain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3f95a3dd972_0_4"/>
          <p:cNvSpPr/>
          <p:nvPr/>
        </p:nvSpPr>
        <p:spPr>
          <a:xfrm>
            <a:off x="365760" y="647395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Option C  ·  Shree Cement CNF Portal  ·  Architecture Decision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f95a3dd972_0_4"/>
          <p:cNvSpPr/>
          <p:nvPr/>
        </p:nvSpPr>
        <p:spPr>
          <a:xfrm>
            <a:off x="9628632" y="6473952"/>
            <a:ext cx="219456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July 2026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g3f95a3dd972_0_4"/>
          <p:cNvSpPr/>
          <p:nvPr/>
        </p:nvSpPr>
        <p:spPr>
          <a:xfrm>
            <a:off x="365760" y="31148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F1F5F9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f95a3dd972_0_4"/>
          <p:cNvSpPr/>
          <p:nvPr/>
        </p:nvSpPr>
        <p:spPr>
          <a:xfrm>
            <a:off x="411480" y="31338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T2 Data Store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g3f95a3dd972_0_4"/>
          <p:cNvSpPr/>
          <p:nvPr/>
        </p:nvSpPr>
        <p:spPr>
          <a:xfrm>
            <a:off x="4102640" y="31148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CCEFF1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g3f95a3dd972_0_4"/>
          <p:cNvSpPr/>
          <p:nvPr/>
        </p:nvSpPr>
        <p:spPr>
          <a:xfrm>
            <a:off x="4148360" y="31338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SCPI / Direct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900"/>
              <a:buFont typeface="Calibri"/>
              <a:buNone/>
            </a:pPr>
            <a:r>
              <a:rPr lang="en-US" sz="900" b="0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Connection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g3f95a3dd972_0_4"/>
          <p:cNvSpPr/>
          <p:nvPr/>
        </p:nvSpPr>
        <p:spPr>
          <a:xfrm>
            <a:off x="7399020" y="3114802"/>
            <a:ext cx="1965900" cy="530400"/>
          </a:xfrm>
          <a:prstGeom prst="roundRect">
            <a:avLst>
              <a:gd name="adj" fmla="val 10345"/>
            </a:avLst>
          </a:prstGeom>
          <a:solidFill>
            <a:srgbClr val="006D75"/>
          </a:solidFill>
          <a:ln w="9525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  <a:effectLst>
            <a:outerShdw blurRad="76200" dist="25400" dir="5400000" algn="bl" rotWithShape="0">
              <a:srgbClr val="000000">
                <a:alpha val="1216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g3f95a3dd972_0_4"/>
          <p:cNvSpPr/>
          <p:nvPr/>
        </p:nvSpPr>
        <p:spPr>
          <a:xfrm>
            <a:off x="7444740" y="3133852"/>
            <a:ext cx="1874400" cy="5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DSP</a:t>
            </a: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JDBC connection</a:t>
            </a:r>
            <a:endParaRPr sz="1100" b="1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7" name="Google Shape;237;g3f95a3dd972_0_4"/>
          <p:cNvCxnSpPr/>
          <p:nvPr/>
        </p:nvCxnSpPr>
        <p:spPr>
          <a:xfrm>
            <a:off x="6068640" y="3399052"/>
            <a:ext cx="1299900" cy="0"/>
          </a:xfrm>
          <a:prstGeom prst="straightConnector1">
            <a:avLst/>
          </a:prstGeom>
          <a:noFill/>
          <a:ln w="19050" cap="flat" cmpd="sng">
            <a:solidFill>
              <a:srgbClr val="4B5563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38" name="Google Shape;238;g3f95a3dd972_0_4"/>
          <p:cNvCxnSpPr>
            <a:stCxn id="234" idx="1"/>
            <a:endCxn id="232" idx="3"/>
          </p:cNvCxnSpPr>
          <p:nvPr/>
        </p:nvCxnSpPr>
        <p:spPr>
          <a:xfrm rot="10800000">
            <a:off x="2285960" y="3399052"/>
            <a:ext cx="1862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39" name="Google Shape;239;g3f95a3dd972_0_4"/>
          <p:cNvSpPr/>
          <p:nvPr/>
        </p:nvSpPr>
        <p:spPr>
          <a:xfrm>
            <a:off x="378450" y="1811525"/>
            <a:ext cx="8229600" cy="1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DIRECT T</a:t>
            </a:r>
            <a:r>
              <a:rPr lang="en-US" sz="1050" b="1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1050" b="1" i="0" u="none" strike="noStrike" cap="none">
                <a:solidFill>
                  <a:srgbClr val="006D75"/>
                </a:solidFill>
                <a:latin typeface="Calibri"/>
                <a:ea typeface="Calibri"/>
                <a:cs typeface="Calibri"/>
                <a:sym typeface="Calibri"/>
              </a:rPr>
              <a:t> QUERY PATH   ·   zero DSP / T2 dependency</a:t>
            </a:r>
            <a:endParaRPr sz="10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g3f95a3dd972_0_4"/>
          <p:cNvSpPr/>
          <p:nvPr/>
        </p:nvSpPr>
        <p:spPr>
          <a:xfrm>
            <a:off x="378450" y="2074561"/>
            <a:ext cx="2103000" cy="5319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 cap="flat" cmpd="sng">
            <a:solidFill>
              <a:srgbClr val="D1D5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g3f95a3dd972_0_4"/>
          <p:cNvSpPr/>
          <p:nvPr/>
        </p:nvSpPr>
        <p:spPr>
          <a:xfrm>
            <a:off x="469890" y="2074561"/>
            <a:ext cx="19203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CNF Agent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(Browser)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2" name="Google Shape;242;g3f95a3dd972_0_4"/>
          <p:cNvCxnSpPr/>
          <p:nvPr/>
        </p:nvCxnSpPr>
        <p:spPr>
          <a:xfrm>
            <a:off x="2499858" y="2340609"/>
            <a:ext cx="768000" cy="0"/>
          </a:xfrm>
          <a:prstGeom prst="straightConnector1">
            <a:avLst/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3" name="Google Shape;243;g3f95a3dd972_0_4"/>
          <p:cNvSpPr/>
          <p:nvPr/>
        </p:nvSpPr>
        <p:spPr>
          <a:xfrm>
            <a:off x="3304530" y="2074561"/>
            <a:ext cx="2743200" cy="531900"/>
          </a:xfrm>
          <a:prstGeom prst="roundRect">
            <a:avLst>
              <a:gd name="adj" fmla="val 10000"/>
            </a:avLst>
          </a:prstGeom>
          <a:solidFill>
            <a:srgbClr val="D6E4F7"/>
          </a:solidFill>
          <a:ln w="12700" cap="flat" cmpd="sng">
            <a:solidFill>
              <a:srgbClr val="1E5F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g3f95a3dd972_0_4"/>
          <p:cNvSpPr/>
          <p:nvPr/>
        </p:nvSpPr>
        <p:spPr>
          <a:xfrm>
            <a:off x="3395970" y="2074561"/>
            <a:ext cx="2560200" cy="5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Hybris T</a:t>
            </a:r>
            <a:r>
              <a:rPr lang="en-US" sz="120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lang="en-US" sz="120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CNF/OMS</a:t>
            </a:r>
            <a:r>
              <a:rPr lang="en-US" sz="1200" b="1" i="0" u="none" strike="noStrike" cap="none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OCC API Layer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45" name="Google Shape;245;g3f95a3dd972_0_4"/>
          <p:cNvCxnSpPr/>
          <p:nvPr/>
        </p:nvCxnSpPr>
        <p:spPr>
          <a:xfrm>
            <a:off x="6066018" y="2340609"/>
            <a:ext cx="676800" cy="0"/>
          </a:xfrm>
          <a:prstGeom prst="straightConnector1">
            <a:avLst/>
          </a:prstGeom>
          <a:noFill/>
          <a:ln w="19050" cap="flat" cmpd="sng">
            <a:solidFill>
              <a:srgbClr val="6B7280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46" name="Google Shape;246;g3f95a3dd972_0_4"/>
          <p:cNvSpPr/>
          <p:nvPr/>
        </p:nvSpPr>
        <p:spPr>
          <a:xfrm>
            <a:off x="6761125" y="2140875"/>
            <a:ext cx="41271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1100" i="1">
                <a:solidFill>
                  <a:srgbClr val="4B5563"/>
                </a:solidFill>
                <a:latin typeface="Calibri"/>
                <a:ea typeface="Calibri"/>
                <a:cs typeface="Calibri"/>
                <a:sym typeface="Calibri"/>
              </a:rPr>
              <a:t>Direct calls for Vehical master, transporter  and stock Aging. No DSP round trip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f95a3dd972_0_4"/>
          <p:cNvSpPr/>
          <p:nvPr/>
        </p:nvSpPr>
        <p:spPr>
          <a:xfrm>
            <a:off x="7635562" y="5306516"/>
            <a:ext cx="3612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1F3C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0D1F3C"/>
                </a:solidFill>
                <a:latin typeface="Calibri"/>
                <a:ea typeface="Calibri"/>
                <a:cs typeface="Calibri"/>
                <a:sym typeface="Calibri"/>
              </a:rPr>
              <a:t>Invoice Download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g3f95a3dd972_0_4"/>
          <p:cNvSpPr/>
          <p:nvPr/>
        </p:nvSpPr>
        <p:spPr>
          <a:xfrm>
            <a:off x="7627097" y="5480263"/>
            <a:ext cx="16830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00"/>
              <a:buFont typeface="Calibri"/>
              <a:buNone/>
            </a:pPr>
            <a:r>
              <a:rPr lang="en-US" sz="8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OCC query to T1</a:t>
            </a:r>
            <a:endParaRPr sz="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g3f5e5769fd9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1672321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952</Words>
  <Application>Microsoft Office PowerPoint</Application>
  <PresentationFormat>Widescreen</PresentationFormat>
  <Paragraphs>185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cp:lastModifiedBy>P, Bharat</cp:lastModifiedBy>
  <cp:revision>1</cp:revision>
  <dcterms:created xsi:type="dcterms:W3CDTF">2026-07-22T03:27:48Z</dcterms:created>
  <dcterms:modified xsi:type="dcterms:W3CDTF">2026-07-30T02:55:24Z</dcterms:modified>
</cp:coreProperties>
</file>